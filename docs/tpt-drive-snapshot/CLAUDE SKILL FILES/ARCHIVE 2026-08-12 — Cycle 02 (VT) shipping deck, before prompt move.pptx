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REVISION PROMPT — copy everything between the lines into your AI, and paste your first answer where it says [YOUR FIRST ANSWER]. The AI will NOT give you the answer — it helps you see your own thinking so you improve it yourself.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-----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I am a high school student. Below is a science question and my first answer. Do NOT rewrite my answer and do NOT give me the answer. Instead: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1. Tell me one thing I got right, and quote my own words back to me.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2. Ask me two questions that make me look again at one idea I might have wrong or left out.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3. Name one distinction or example worth thinking about.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Keep it short and in plain language, then stop so I can write my own revised answer.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QUESTION: The 10% rule limits most ecosystems to 4–5 trophic levels. What would have to change for a 7-level ecosystem to be stable?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[YOUR FIRST ANSWER]: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-----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Now write your revised answer in “Your revised answer” on the slide — in your own words.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TEACHER: the finished deck (first + revised answers) is the single artifact that runs through the AI pipeline → each student's printable Growth Report + class summary. Completion = both boxes filled.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REVISION PROMPT — copy everything between the lines into your AI, and paste your first answer where it says [YOUR FIRST ANSWER]. The AI will NOT give you the answer — it helps you see your own thinking so you improve it yourself.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-----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I am a high school student. Below is a science question and my first answer. Do NOT rewrite my answer and do NOT give me the answer. Instead: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1. Tell me one thing I got right, and quote my own words back to me.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2. Ask me two questions that make me look again at one idea I might have wrong or left out.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3. Name one distinction or example worth thinking about.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Keep it short and in plain language, then stop so I can write my own revised answer.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QUESTION: A bee pollinates a flower (mutualism). If it evolved to steal nectar without touching pollen, what would the relationship become — and what happens to the flower over time?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[YOUR FIRST ANSWER]: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-----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Now write your revised answer in “Your revised answer” on the slide — in your own words.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TEACHER: the finished deck (first + revised answers) is the single artifact that runs through the AI pipeline → each student's printable Growth Report + class summary. Completion = both boxes filled.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9" name="Google Shape;39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0" name="Google Shape;42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iomanbio.com/HTML5GamesandLabs/EcoGames/ecology.html" TargetMode="External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8.jp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nswerable-biology-models.netlify.app/energy.html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answerable-biology-models.netlify.app/energy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/file/d/1Jw2SU5hL2kzdLCNKFo0XxXE8sB6xcbSK/view" TargetMode="External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rive.google.com/file/d/1Jw2SU5hL2kzdLCNKFo0XxXE8sB6xcbSK/view" TargetMode="External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Relationship Id="rId4" Type="http://schemas.openxmlformats.org/officeDocument/2006/relationships/image" Target="../media/image21.jpg"/><Relationship Id="rId5" Type="http://schemas.openxmlformats.org/officeDocument/2006/relationships/image" Target="../media/image20.jpg"/><Relationship Id="rId6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jpg"/><Relationship Id="rId4" Type="http://schemas.openxmlformats.org/officeDocument/2006/relationships/image" Target="../media/image24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www.biointeractive.org/classroom-resources/living-together" TargetMode="External"/><Relationship Id="rId4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youtu.be/7cRgK0qG00E" TargetMode="External"/><Relationship Id="rId4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biointeractive.org/classroom-resources/creating-chains-and-webs-model-ecological-relationships" TargetMode="External"/><Relationship Id="rId4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biomanbio.com/HTML5GamesandLabs/EcoGames/ecology.html" TargetMode="External"/><Relationship Id="rId4" Type="http://schemas.openxmlformats.org/officeDocument/2006/relationships/hyperlink" Target="https://answerable-biology-models.netlify.app/energy.html" TargetMode="External"/><Relationship Id="rId5" Type="http://schemas.openxmlformats.org/officeDocument/2006/relationships/hyperlink" Target="https://drive.google.com/file/d/1Jw2SU5hL2kzdLCNKFo0XxXE8sB6xcbSK/view" TargetMode="External"/><Relationship Id="rId6" Type="http://schemas.openxmlformats.org/officeDocument/2006/relationships/hyperlink" Target="https://www.biointeractive.org/classroom-resources/living-together" TargetMode="External"/><Relationship Id="rId7" Type="http://schemas.openxmlformats.org/officeDocument/2006/relationships/hyperlink" Target="https://youtu.be/7cRgK0qG00E" TargetMode="External"/><Relationship Id="rId8" Type="http://schemas.openxmlformats.org/officeDocument/2006/relationships/hyperlink" Target="https://www.biointeractive.org/classroom-resources/creating-chains-and-webs-model-ecological-relationships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57200" y="1280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TEACHER REFERENCE — not projected to students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Cycle 2 · Ecosystems &amp; Feeding Relationships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48640" y="13716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Unit 1 · 3 blocks · Sep 07–18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48640" y="1965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ESSENTIAL CLAIM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48640" y="224028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Organisms in an ecosystem are connected by the transfer of matter and energy through feeding relationships.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NGSS PERFORMANCE EXPECTATIONS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548640" y="338328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HS-LS2-1 — factors that affect carrying capacity of ecosystems at different scales.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HS-LS2-2 — factors affecting biodiversity and populations in ecosystems of different scales.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48640" y="4846320"/>
            <a:ext cx="8046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Describe the levels of ecological organization.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Build and interpret food chains and webs.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Explain producer, consumer, and decomposer roles, and how energy is lost at each step.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2194560"/>
            <a:ext cx="9144000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AF6F7"/>
                </a:solidFill>
                <a:latin typeface="Arial"/>
                <a:ea typeface="Arial"/>
                <a:cs typeface="Arial"/>
                <a:sym typeface="Arial"/>
              </a:rPr>
              <a:t>Day 1 of 3 — the most teaching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Where your energy comes from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48640" y="4114800"/>
            <a:ext cx="8046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Bellringer + a short sim.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big idea: living things are connected by how energy and matter move.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Critical Aspect 1: energy flow through the food chain.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Start your food web (Critical Aspect 1) — you'll finish it next class. Submit your notes.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f331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50292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457200" y="4114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Bellringer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457200" y="914400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Think about the last meal you ate. Where did the energy in that food originally come from? Write your best guess.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457200" y="2148840"/>
            <a:ext cx="4663440" cy="3977639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486400" y="4114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Today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486400" y="9601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486400" y="120700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Energy and feeding in ecosystems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486400" y="1828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SHORT SIM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486400" y="2075688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BioMan Ecology Games</a:t>
            </a:r>
            <a:r>
              <a:rPr b="0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— remove one species from a food web. What happens?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486400" y="30632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KEY TERMS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486400" y="3310128"/>
            <a:ext cx="32918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Autotroph — makes its own food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Heterotroph — must eat food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Producer / consumer / decomposer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Trophic level — a step in the chain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Energy pyramid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f37d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Big idea: living things are connected by how energy and matter move between them.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What we're figuring out today: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22960" y="2468880"/>
            <a:ext cx="7680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1.  </a:t>
            </a:r>
            <a:r>
              <a:rPr b="0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do organisms get their energy — what separates the makers from the eaters?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2.  </a:t>
            </a:r>
            <a:r>
              <a:rPr b="0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Why does energy run out so fast as it moves up a food chain?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f4a1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Makers and eaters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48640" y="13716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Autotrophs = makers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48640" y="1737360"/>
            <a:ext cx="39319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Make their own food. Also called producers. Most use sunlight (plants, algae, some bacteria). A few use chemicals.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4663440" y="13716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Heterotrophs = eaters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4663440" y="1737360"/>
            <a:ext cx="39319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Must eat other things. Also called consumers: herbivores eat plants, carnivores eat animals, omnivores eat both, decomposers eat dead things.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Every living thing needs energy. The difference is whether it makes its own or has to eat.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_5_s05_auto.jp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542032"/>
            <a:ext cx="2057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op_5_alt_rabbit2.jp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2542032"/>
            <a:ext cx="2057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f33b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Zoom out from your 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48640" y="1417320"/>
            <a:ext cx="804672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One cow — an </a:t>
            </a: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organism</a:t>
            </a: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All the cows that breed together — a </a:t>
            </a: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population</a:t>
            </a: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Every living thing they interact with — a </a:t>
            </a: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community</a:t>
            </a: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Add the soil, water, air, and sun — an </a:t>
            </a: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ecosystem</a:t>
            </a: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Every ecosystem with the same climate — a </a:t>
            </a: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biome</a:t>
            </a: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Everywhere life exists — the </a:t>
            </a: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biosphere</a:t>
            </a: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Each level adds something new: more individuals, then other species, then the non-living world.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2_s06_herd_60_415.jp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794760"/>
            <a:ext cx="3017520" cy="2011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f30d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Critical aspect: Energy flow through trophic levels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548640" y="8229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energy in your dinner started as sunlight. Grass catches sunlight, a cow eats the grass, you eat the cow. At each step, do you get all of the grass's energy — or something else? Why?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548640" y="2468880"/>
            <a:ext cx="8046720" cy="361188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Think first. Discuss with a partner. Then write.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600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Explore — the Energy Tank Model</a:t>
            </a:r>
            <a:endParaRPr/>
          </a:p>
        </p:txBody>
      </p:sp>
      <p:pic>
        <p:nvPicPr>
          <p:cNvPr descr="tank_preview.png" id="167" name="Google Shape;167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400" y="914400"/>
            <a:ext cx="502920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365760" y="612648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▶  Tap to open and drag the sliders — change the transfer efficiency and watch the tanks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https://answerable-biology-models.netlify.app/energy.html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Critical aspect: Energy flow through trophic levels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548640" y="7315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Both live in the same meadow. So why thousands of grass plants but only a dozen hawks?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548640" y="13716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CASE A — Grass (producers)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548640" y="1719072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Thousands of plants. Catch sunlight directly. ~10,000 calories stored across the field. First trophic level.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4663440" y="13716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CASE B — Red-tailed hawk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4663440" y="1719072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10–15 hawks share the meadow. Can't make their own food. Eat rabbits, which eat grass. Third trophic level.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48640" y="3520440"/>
            <a:ext cx="8046720" cy="73152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If the grass holds 10,000 calories, why can't the meadow feed 10,000 hawks?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48640" y="4434840"/>
            <a:ext cx="8046720" cy="169164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Think first. Discuss with a partner. Then write.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_9_alt_grass.jp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240280"/>
            <a:ext cx="1719072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op_9_alt_hawk2.jp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2240280"/>
            <a:ext cx="1719072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Critical aspect: Energy flow through trophic levels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Where does the other 90% go?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Only about 10% of the energy in one trophic level reaches the next. The rest doesn't vanish: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Most is lost as heat when organisms use energy to live (respiration).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Some leaves as waste that isn't eaten.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• Some organisms die without being eaten, so their energy isn't passed 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2_s10_decay_60_360.jpg"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291840"/>
            <a:ext cx="2606040" cy="1737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f525.png" id="194" name="Google Shape;19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Critical aspect: Energy flow through trophic levels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Build a rule from what you just saw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Finish this sentence as a rule: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“Each time energy moves from one trophic level to the next, ______________________.”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48640" y="2926080"/>
            <a:ext cx="8046720" cy="315468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Think first. Discuss with a partner. Then write.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70f.png"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Pattern break  /  Critical aspect: Energy flow through trophic levels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Your rule said energy passes upward. But decomposers eat dead things at every level — dead grass, dead rabbits, dead hawks.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548640" y="1874519"/>
            <a:ext cx="8046720" cy="8686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Where does a decomposer fit — 10% from one level, or energy from all levels at once? Does your rule still hold?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548640" y="2926080"/>
            <a:ext cx="8046720" cy="315468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Think first. Discuss with a partner. Then write.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f344.png" id="217" name="Google Shape;2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Keep going  /  Critical aspect: Energy flow through trophic levels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 txBox="1"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If energy is lost at every step and never comes back, why hasn't life run out of energy?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There's no answer to look up. Think it through and take your best guess.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48640" y="2926080"/>
            <a:ext cx="8046720" cy="315468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Think first. Discuss with a partner. Then write.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753.png" id="228" name="Google Shape;2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Critical aspect: Energy flow through trophic levels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 txBox="1"/>
          <p:nvPr/>
        </p:nvSpPr>
        <p:spPr>
          <a:xfrm>
            <a:off x="548640" y="438912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What has to be true about how organisms use energy for there to always be more producers than consumers?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548640" y="1308160"/>
            <a:ext cx="182880" cy="18288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Getting Started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548640" y="1554480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meadow stores 10,000 calories in its grass. How many reach the hawks (secondary consumers)? Show your math.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548640" y="2222560"/>
            <a:ext cx="182880" cy="182880"/>
          </a:xfrm>
          <a:prstGeom prst="roundRect">
            <a:avLst>
              <a:gd fmla="val 16667" name="adj"/>
            </a:avLst>
          </a:prstGeom>
          <a:solidFill>
            <a:srgbClr val="EFDF85"/>
          </a:solidFill>
          <a:ln cap="flat" cmpd="sng" w="9525">
            <a:solidFill>
              <a:srgbClr val="EFDF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6"/>
          <p:cNvSpPr txBox="1"/>
          <p:nvPr/>
        </p:nvSpPr>
        <p:spPr>
          <a:xfrm>
            <a:off x="822960" y="21945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Working On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548640" y="2468880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Why can there never be more foxes than rabbits in a stable ecosystem — even if foxes are faster, better hunters?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6"/>
          <p:cNvSpPr/>
          <p:nvPr/>
        </p:nvSpPr>
        <p:spPr>
          <a:xfrm>
            <a:off x="548640" y="3274120"/>
            <a:ext cx="182880" cy="182880"/>
          </a:xfrm>
          <a:prstGeom prst="roundRect">
            <a:avLst>
              <a:gd fmla="val 16667" name="adj"/>
            </a:avLst>
          </a:prstGeom>
          <a:solidFill>
            <a:srgbClr val="1E8449"/>
          </a:solidFill>
          <a:ln cap="flat" cmpd="sng" w="9525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6"/>
          <p:cNvSpPr txBox="1"/>
          <p:nvPr/>
        </p:nvSpPr>
        <p:spPr>
          <a:xfrm>
            <a:off x="822960" y="3246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Mastery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548640" y="3520440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10% rule limits most ecosystems to 4–5 trophic levels. What would have to change for a 7-level ecosystem to be stable?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Word bank (use any, modify any, or use none):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548640" y="464515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[ trophic level ]  [ biomass ]  [ producer ]  [ consumer ]  [ energy pyramid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548640" y="495604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[ most energy is lost as heat during respiration ]  [ only 10% passes to the next level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6"/>
          <p:cNvSpPr/>
          <p:nvPr/>
        </p:nvSpPr>
        <p:spPr>
          <a:xfrm>
            <a:off x="548640" y="5486400"/>
            <a:ext cx="8046720" cy="86868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Think first. Discuss with a partner. Then write.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6" name="Google Shape;25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7" name="Google Shape;257;p27"/>
          <p:cNvSpPr txBox="1"/>
          <p:nvPr/>
        </p:nvSpPr>
        <p:spPr>
          <a:xfrm>
            <a:off x="548640" y="310896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Your answer — Critical Aspect 1 · Energy flow through trophic levels</a:t>
            </a:r>
            <a:endParaRPr/>
          </a:p>
        </p:txBody>
      </p:sp>
      <p:sp>
        <p:nvSpPr>
          <p:cNvPr id="258" name="Google Shape;258;p27"/>
          <p:cNvSpPr txBox="1"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Write your first answer now. On Day 3, open this slide’s Notes, run the prompt, and write your revised answer below — leave both showing. Seeing your thinking change is the point.</a:t>
            </a:r>
            <a:endParaRPr/>
          </a:p>
        </p:txBody>
      </p:sp>
      <p:sp>
        <p:nvSpPr>
          <p:cNvPr id="259" name="Google Shape;259;p27"/>
          <p:cNvSpPr txBox="1"/>
          <p:nvPr/>
        </p:nvSpPr>
        <p:spPr>
          <a:xfrm>
            <a:off x="548640" y="148132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Your first answer</a:t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548640" y="1755648"/>
            <a:ext cx="8046720" cy="1965960"/>
          </a:xfrm>
          <a:prstGeom prst="roundRect">
            <a:avLst>
              <a:gd fmla="val 3000" name="adj"/>
            </a:avLst>
          </a:prstGeom>
          <a:solidFill>
            <a:srgbClr val="F2F6F9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548640" y="39136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Your revised answer  (after the AI prompt in the Notes)</a:t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548640" y="4187952"/>
            <a:ext cx="8046720" cy="1965960"/>
          </a:xfrm>
          <a:prstGeom prst="roundRect">
            <a:avLst>
              <a:gd fmla="val 3000" name="adj"/>
            </a:avLst>
          </a:prstGeom>
          <a:solidFill>
            <a:srgbClr val="F2F6F9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13b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Day 1 activity · Critical Aspect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Activity (Critical Aspect 1) — Start your food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548640" y="1554480"/>
            <a:ext cx="80467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This activity belongs to today's critical aspect — energy flow. You start it now and finish it next class.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Take your set of species cards. Sort them into three piles: producers, consumers, decomposers.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Using each card's diet, draw arrows for who eats whom. Build a food web on your sheet.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Show your teacher your web before you leave.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Attempt the Mastery response, then SUBMIT YOUR NOTES. Present today = due today.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(We keep it simple this first cycle — the energy-pyramid math comes next class.)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548640" y="57607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Open: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Feeding Relationships (Pacific NW) — 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f9e9.png" id="272" name="Google Shape;27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"/>
          <p:cNvSpPr/>
          <p:nvPr/>
        </p:nvSpPr>
        <p:spPr>
          <a:xfrm>
            <a:off x="0" y="2194560"/>
            <a:ext cx="9144000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9"/>
          <p:cNvSpPr txBox="1"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AF6F7"/>
                </a:solidFill>
                <a:latin typeface="Arial"/>
                <a:ea typeface="Arial"/>
                <a:cs typeface="Arial"/>
                <a:sym typeface="Arial"/>
              </a:rPr>
              <a:t>Day 2 of 3 — finish, then the second idea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Who's connected to whom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548640" y="4114800"/>
            <a:ext cx="8046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First: finish your food web from last class (the energy-pyramid step).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Critical Aspect 2: how two species affect each other.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Guided notes, then attempt the Mastery response.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short symbiosis activity, then submit your notes.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f41d.png" id="282" name="Google Shape;2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50292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Day 2 · finish Critical Aspect 1 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0"/>
          <p:cNvSpPr txBox="1"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Activity (Critical Aspect 1) — Finish your food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0"/>
          <p:cNvSpPr txBox="1"/>
          <p:nvPr/>
        </p:nvSpPr>
        <p:spPr>
          <a:xfrm>
            <a:off x="548640" y="1554480"/>
            <a:ext cx="80467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Pick up your food web from last class. This is the energy-pyramid step.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Choose 4 organisms from your web and stack them into a pyramid — producers on the bottom.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Start with 10,000 units of energy in the producers. Using the 10% rule, how much reaches each level above? Fill it 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In one sentence: why does the energy get smaller as you go up?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0"/>
          <p:cNvSpPr txBox="1"/>
          <p:nvPr/>
        </p:nvSpPr>
        <p:spPr>
          <a:xfrm>
            <a:off x="548640" y="57607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Open: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Feeding Relationships (Pacific NW) — 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f9e9.png" id="292" name="Google Shape;29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0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Critical aspect: Symbiosis and species relationships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1"/>
          <p:cNvSpPr txBox="1"/>
          <p:nvPr/>
        </p:nvSpPr>
        <p:spPr>
          <a:xfrm>
            <a:off x="548640" y="822960"/>
            <a:ext cx="8046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bee lands on a flower, drinks nectar, and carries pollen to the next flower. A mosquito lands on your arm, drinks your blood, and you itch for days. Both are two species interacting. So what is actually different?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548640" y="2651760"/>
            <a:ext cx="8046720" cy="342900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1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Think first. Discuss with a partner. Then write.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f99f.png" id="302" name="Google Shape;30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1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/>
          <p:nvPr/>
        </p:nvSpPr>
        <p:spPr>
          <a:xfrm>
            <a:off x="548640" y="7315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Three kinds of close relationship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2"/>
          <p:cNvSpPr txBox="1"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Mutualism</a:t>
            </a: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— both species benefit.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Parasitism</a:t>
            </a: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— one is helped; the other is harmed.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Commensalism</a:t>
            </a: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— one benefits; the other is neither helped nor harmed.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 name for these close relationships is </a:t>
            </a: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symbiosis</a:t>
            </a: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_19_alt_mut.jpg" id="310" name="Google Shape;31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017520"/>
            <a:ext cx="246888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op_19_alt_par2.jpg" id="311" name="Google Shape;31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3017520"/>
            <a:ext cx="246888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op_19_s19_com.jpg" id="312" name="Google Shape;31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0" y="3017520"/>
            <a:ext cx="246888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f41a.png" id="313" name="Google Shape;313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2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3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Critical aspect: Symbiosis and species relationships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3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Both get what they need. What makes them different — and why does it matter?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3"/>
          <p:cNvSpPr txBox="1"/>
          <p:nvPr/>
        </p:nvSpPr>
        <p:spPr>
          <a:xfrm>
            <a:off x="548640" y="13258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CASE A — Bee ↔ Flower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3"/>
          <p:cNvSpPr txBox="1"/>
          <p:nvPr/>
        </p:nvSpPr>
        <p:spPr>
          <a:xfrm>
            <a:off x="548640" y="1664208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Bee gets nectar. Flower gets its pollen carried to other flowers. Both walk away with something. Neither is harmed.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3"/>
          <p:cNvSpPr txBox="1"/>
          <p:nvPr/>
        </p:nvSpPr>
        <p:spPr>
          <a:xfrm>
            <a:off x="4663440" y="13258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CASE B — Mosquito ↔ Human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3"/>
          <p:cNvSpPr txBox="1"/>
          <p:nvPr/>
        </p:nvSpPr>
        <p:spPr>
          <a:xfrm>
            <a:off x="4663440" y="1664208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Mosquito gets blood. Human gets an itchy welt and maybe disease. One gains; the other loses. The cost is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3"/>
          <p:cNvSpPr/>
          <p:nvPr/>
        </p:nvSpPr>
        <p:spPr>
          <a:xfrm>
            <a:off x="548640" y="3611880"/>
            <a:ext cx="8046720" cy="246888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3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Think first. Discuss with a partner. Then write.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_20_s20_bee.jpg" id="327" name="Google Shape;32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240280"/>
            <a:ext cx="1856231" cy="123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op_20_s20_mos.jpg" id="328" name="Google Shape;32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2240280"/>
            <a:ext cx="1856231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3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Critical aspect: Symbiosis and species relationships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4"/>
          <p:cNvSpPr txBox="1"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Build a rule from what you just saw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4"/>
          <p:cNvSpPr txBox="1"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Finish this sentence as a rule: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“To identify what type of symbiosis two species have, you need to figure out ________________.”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/>
          <p:nvPr/>
        </p:nvSpPr>
        <p:spPr>
          <a:xfrm>
            <a:off x="548640" y="2926080"/>
            <a:ext cx="8046720" cy="315468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4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Think first. Discuss with a partner. Then write.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70f.png" id="340" name="Google Shape;34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4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5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Pattern break  /  Critical aspect: Symbiosis and species relationships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5"/>
          <p:cNvSpPr txBox="1"/>
          <p:nvPr/>
        </p:nvSpPr>
        <p:spPr>
          <a:xfrm>
            <a:off x="548640" y="822960"/>
            <a:ext cx="5577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Your rule said: figure out who benefits and who is harmed. But some orchids look and smell like female bees. A bee tries to mate with the flower, pollinates it — and gets no nectar at all.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5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Who benefits? Who, if anyone, is harmed? A new type — or does your rule still work if you apply it carefully?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5"/>
          <p:cNvSpPr/>
          <p:nvPr/>
        </p:nvSpPr>
        <p:spPr>
          <a:xfrm>
            <a:off x="548640" y="3017520"/>
            <a:ext cx="8046720" cy="306324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5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Think first. Discuss with a partner. Then write.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p2_s22_orchid_700_62.jpg" id="351" name="Google Shape;3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566928"/>
            <a:ext cx="21945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6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Critical aspect: Symbiosis and species relationships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6"/>
          <p:cNvSpPr txBox="1"/>
          <p:nvPr/>
        </p:nvSpPr>
        <p:spPr>
          <a:xfrm>
            <a:off x="548640" y="438912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How does the outcome — who gains, who loses, or neither — decide the type of symbiosis?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6"/>
          <p:cNvSpPr/>
          <p:nvPr/>
        </p:nvSpPr>
        <p:spPr>
          <a:xfrm>
            <a:off x="548640" y="1171000"/>
            <a:ext cx="182880" cy="18288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6"/>
          <p:cNvSpPr txBox="1"/>
          <p:nvPr/>
        </p:nvSpPr>
        <p:spPr>
          <a:xfrm>
            <a:off x="822960" y="1143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Getting Started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548640" y="1417320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pilot fish eats scraps near a shark; the shark doesn't notice. Name the type and each organism's outcome.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6"/>
          <p:cNvSpPr/>
          <p:nvPr/>
        </p:nvSpPr>
        <p:spPr>
          <a:xfrm>
            <a:off x="548640" y="2085400"/>
            <a:ext cx="182880" cy="182880"/>
          </a:xfrm>
          <a:prstGeom prst="roundRect">
            <a:avLst>
              <a:gd fmla="val 16667" name="adj"/>
            </a:avLst>
          </a:prstGeom>
          <a:solidFill>
            <a:srgbClr val="EFDF85"/>
          </a:solidFill>
          <a:ln cap="flat" cmpd="sng" w="9525">
            <a:solidFill>
              <a:srgbClr val="EFDF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822960" y="20574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Working On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6"/>
          <p:cNvSpPr txBox="1"/>
          <p:nvPr/>
        </p:nvSpPr>
        <p:spPr>
          <a:xfrm>
            <a:off x="548640" y="2331720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Two species evolve traits that only make sense if the other exists. What type are they in, and what's your evidence?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6"/>
          <p:cNvSpPr/>
          <p:nvPr/>
        </p:nvSpPr>
        <p:spPr>
          <a:xfrm>
            <a:off x="548640" y="3091240"/>
            <a:ext cx="182880" cy="182880"/>
          </a:xfrm>
          <a:prstGeom prst="roundRect">
            <a:avLst>
              <a:gd fmla="val 16667" name="adj"/>
            </a:avLst>
          </a:prstGeom>
          <a:solidFill>
            <a:srgbClr val="1E8449"/>
          </a:solidFill>
          <a:ln cap="flat" cmpd="sng" w="9525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822960" y="3063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Mastery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6"/>
          <p:cNvSpPr txBox="1"/>
          <p:nvPr/>
        </p:nvSpPr>
        <p:spPr>
          <a:xfrm>
            <a:off x="548640" y="3337560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 bee pollinates a flower (mutualism). If it evolved to steal nectar without touching pollen, what would the relationship become — and what happens to the flower over time?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6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Word bank (use any, modify any, or use none):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6"/>
          <p:cNvSpPr txBox="1"/>
          <p:nvPr/>
        </p:nvSpPr>
        <p:spPr>
          <a:xfrm>
            <a:off x="548640" y="459943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[ mutualism ]  [ parasitism ]  [ commensalism ]  [ symbiosis ]  [ niche ]  [ coevolution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48640" y="49377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[ both gain ]  [ one benefits, one is harmed ]  [ one benefits, the other is unaffected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548640" y="5486400"/>
            <a:ext cx="8046720" cy="86868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6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Think first. Discuss with a partner. Then write.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6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79" name="Google Shape;379;p3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80" name="Google Shape;380;p37"/>
          <p:cNvSpPr txBox="1"/>
          <p:nvPr/>
        </p:nvSpPr>
        <p:spPr>
          <a:xfrm>
            <a:off x="548640" y="310896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Your answer — Critical Aspect 2 · Symbiosis and species relationships</a:t>
            </a:r>
            <a:endParaRPr/>
          </a:p>
        </p:txBody>
      </p:sp>
      <p:sp>
        <p:nvSpPr>
          <p:cNvPr id="381" name="Google Shape;381;p37"/>
          <p:cNvSpPr txBox="1"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Write your first answer now. On Day 3, open this slide’s Notes, run the prompt, and write your revised answer below — leave both showing. Seeing your thinking change is the point.</a:t>
            </a:r>
            <a:endParaRPr/>
          </a:p>
        </p:txBody>
      </p:sp>
      <p:sp>
        <p:nvSpPr>
          <p:cNvPr id="382" name="Google Shape;382;p37"/>
          <p:cNvSpPr txBox="1"/>
          <p:nvPr/>
        </p:nvSpPr>
        <p:spPr>
          <a:xfrm>
            <a:off x="548640" y="1481328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Your first answer</a:t>
            </a:r>
            <a:endParaRPr/>
          </a:p>
        </p:txBody>
      </p:sp>
      <p:sp>
        <p:nvSpPr>
          <p:cNvPr id="383" name="Google Shape;383;p37"/>
          <p:cNvSpPr/>
          <p:nvPr/>
        </p:nvSpPr>
        <p:spPr>
          <a:xfrm>
            <a:off x="548640" y="1755648"/>
            <a:ext cx="8046720" cy="1965960"/>
          </a:xfrm>
          <a:prstGeom prst="roundRect">
            <a:avLst>
              <a:gd fmla="val 3000" name="adj"/>
            </a:avLst>
          </a:prstGeom>
          <a:solidFill>
            <a:srgbClr val="F2F6F9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7"/>
          <p:cNvSpPr txBox="1"/>
          <p:nvPr/>
        </p:nvSpPr>
        <p:spPr>
          <a:xfrm>
            <a:off x="548640" y="39136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Your revised answer  (after the AI prompt in the Notes)</a:t>
            </a:r>
            <a:endParaRPr/>
          </a:p>
        </p:txBody>
      </p:sp>
      <p:sp>
        <p:nvSpPr>
          <p:cNvPr id="385" name="Google Shape;385;p37"/>
          <p:cNvSpPr/>
          <p:nvPr/>
        </p:nvSpPr>
        <p:spPr>
          <a:xfrm>
            <a:off x="548640" y="4187952"/>
            <a:ext cx="8046720" cy="1965960"/>
          </a:xfrm>
          <a:prstGeom prst="roundRect">
            <a:avLst>
              <a:gd fmla="val 3000" name="adj"/>
            </a:avLst>
          </a:prstGeom>
          <a:solidFill>
            <a:srgbClr val="F2F6F9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7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22b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Day 2 activity · Critical Aspect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8"/>
          <p:cNvSpPr txBox="1"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Activity (Critical Aspect 2) — Living Together: the bobtail squid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8"/>
          <p:cNvSpPr txBox="1"/>
          <p:nvPr/>
        </p:nvSpPr>
        <p:spPr>
          <a:xfrm>
            <a:off x="548640" y="1554480"/>
            <a:ext cx="80467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This activity belongs to the second critical aspect — symbiosis. Observational, about 20 minutes.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Open the Living Together resource. Look at the Hawaiian bobtail squid. Write: what do you notice? what do you wonder?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The squid holds glowing bacteria in a light organ. What does the squid get? What do the bacteria get?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Name the type of symbiosis, and write one sentence of evidence for why.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Attempt the Mastery response, then submit your notes.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48640" y="57607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Open: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Living Together — biointeractive.org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f9e9.png" id="395" name="Google Shape;39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8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"/>
          <p:cNvSpPr/>
          <p:nvPr/>
        </p:nvSpPr>
        <p:spPr>
          <a:xfrm>
            <a:off x="0" y="2194560"/>
            <a:ext cx="9144000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9"/>
          <p:cNvSpPr txBox="1"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AF6F7"/>
                </a:solidFill>
                <a:latin typeface="Arial"/>
                <a:ea typeface="Arial"/>
                <a:cs typeface="Arial"/>
                <a:sym typeface="Arial"/>
              </a:rPr>
              <a:t>Day 3 of 3 — make it stronger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9"/>
          <p:cNvSpPr txBox="1"/>
          <p:nvPr/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Rewrite, then push further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9"/>
          <p:cNvSpPr txBox="1"/>
          <p:nvPr/>
        </p:nvSpPr>
        <p:spPr>
          <a:xfrm>
            <a:off x="548640" y="4114800"/>
            <a:ext cx="8046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Reopen your Mastery answers and your feedback.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Revise them into a stronger DRAFT — this is the priority.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Work at your own pace; don't wait for the class.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Finished and strong? Take on the optional challenge.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f4dd.png" id="405" name="Google Shape;40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840" y="50292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9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What if?  /  Critical aspect: Energy flow through trophic levels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0"/>
          <p:cNvSpPr txBox="1"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What if decomposers suddenly disappeared from every ecosystem on Earth — not just some, all of them? What would happen to energy flow within a year? Within a generation?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0"/>
          <p:cNvSpPr txBox="1"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Watch first: </a:t>
            </a: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decomposers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40"/>
          <p:cNvSpPr/>
          <p:nvPr/>
        </p:nvSpPr>
        <p:spPr>
          <a:xfrm>
            <a:off x="548640" y="2926080"/>
            <a:ext cx="8046720" cy="315468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0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Think first. Discuss with a partner. Then write.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f52e.png" id="416" name="Google Shape;41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0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 txBox="1"/>
          <p:nvPr/>
        </p:nvSpPr>
        <p:spPr>
          <a:xfrm>
            <a:off x="502920" y="1097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Arial"/>
                <a:ea typeface="Arial"/>
                <a:cs typeface="Arial"/>
                <a:sym typeface="Arial"/>
              </a:rPr>
              <a:t>Optional challenge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1"/>
          <p:cNvSpPr txBox="1"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Optional challenge (harder) — Break the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1"/>
          <p:cNvSpPr txBox="1"/>
          <p:nvPr/>
        </p:nvSpPr>
        <p:spPr>
          <a:xfrm>
            <a:off x="548640" y="1554480"/>
            <a:ext cx="80467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For students who finished their draft and want to push further.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Go back to the food web you built. Choose one species and remove it completely.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Trace every arrow that touched it. Which populations grow? Which shrink? Which disappear?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Predict the web one year later, then one generation later. Defend each prediction with the 10% rule or a symbiosis type.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4. Hardest version: is there any single species whose removal would barely change the web? Explain what makes a species replaceable.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1"/>
          <p:cNvSpPr txBox="1"/>
          <p:nvPr/>
        </p:nvSpPr>
        <p:spPr>
          <a:xfrm>
            <a:off x="548640" y="57607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Open: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Chains &amp; Webs (Gorongosa) — biointeractive.org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1"/>
          <p:cNvSpPr/>
          <p:nvPr/>
        </p:nvSpPr>
        <p:spPr>
          <a:xfrm>
            <a:off x="548640" y="3611880"/>
            <a:ext cx="8046720" cy="201168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f9e0.png" id="427" name="Google Shape;42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1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2"/>
          <p:cNvSpPr txBox="1"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Relates to me</a:t>
            </a:r>
            <a:endParaRPr/>
          </a:p>
        </p:txBody>
      </p:sp>
      <p:sp>
        <p:nvSpPr>
          <p:cNvPr id="434" name="Google Shape;434;p42"/>
          <p:cNvSpPr txBox="1"/>
          <p:nvPr/>
        </p:nvSpPr>
        <p:spPr>
          <a:xfrm>
            <a:off x="548640" y="132588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This lesson had two critical aspects:</a:t>
            </a:r>
            <a:endParaRPr/>
          </a:p>
        </p:txBody>
      </p:sp>
      <p:sp>
        <p:nvSpPr>
          <p:cNvPr id="435" name="Google Shape;435;p42"/>
          <p:cNvSpPr txBox="1"/>
          <p:nvPr/>
        </p:nvSpPr>
        <p:spPr>
          <a:xfrm>
            <a:off x="822960" y="16916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 Energy flow through trophic levels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 Symbiosis and species relationships</a:t>
            </a:r>
            <a:endParaRPr/>
          </a:p>
        </p:txBody>
      </p:sp>
      <p:sp>
        <p:nvSpPr>
          <p:cNvPr id="436" name="Google Shape;436;p42"/>
          <p:cNvSpPr txBox="1"/>
          <p:nvPr/>
        </p:nvSpPr>
        <p:spPr>
          <a:xfrm>
            <a:off x="548640" y="2651760"/>
            <a:ext cx="7863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Pick ONE. In your own words, how does it connect to you — your body, your food, your home, someone you know, or something you have wondered about?</a:t>
            </a:r>
            <a:endParaRPr/>
          </a:p>
        </p:txBody>
      </p:sp>
      <p:sp>
        <p:nvSpPr>
          <p:cNvPr id="437" name="Google Shape;437;p42"/>
          <p:cNvSpPr/>
          <p:nvPr/>
        </p:nvSpPr>
        <p:spPr>
          <a:xfrm>
            <a:off x="548640" y="3566160"/>
            <a:ext cx="8046720" cy="251460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2"/>
          <p:cNvSpPr txBox="1"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There is no right answer here. Write what is true for you.</a:t>
            </a:r>
            <a:endParaRPr/>
          </a:p>
        </p:txBody>
      </p:sp>
      <p:pic>
        <p:nvPicPr>
          <p:cNvPr descr="1f4ac.png" id="439" name="Google Shape;4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42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3"/>
          <p:cNvSpPr txBox="1"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Then and Now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3"/>
          <p:cNvSpPr txBox="1"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Rate yourself: “I can trace how energy and matter move through an ecosystem, and why energy runs out.”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3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Before this lesson:   Getting Started   /   Working On It   /   Mastery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3"/>
          <p:cNvSpPr txBox="1"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Right now:                Getting Started   /   Working On It   /   Mastery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Type your two ratings below, then one sentence on what changed.</a:t>
            </a:r>
            <a:endParaRPr/>
          </a:p>
        </p:txBody>
      </p:sp>
      <p:sp>
        <p:nvSpPr>
          <p:cNvPr id="450" name="Google Shape;450;p43"/>
          <p:cNvSpPr/>
          <p:nvPr/>
        </p:nvSpPr>
        <p:spPr>
          <a:xfrm>
            <a:off x="548640" y="4526280"/>
            <a:ext cx="8046720" cy="1554480"/>
          </a:xfrm>
          <a:prstGeom prst="rect">
            <a:avLst/>
          </a:prstGeom>
          <a:solidFill>
            <a:srgbClr val="F2F6F9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f4c8.png" id="451" name="Google Shape;45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3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4"/>
          <p:cNvSpPr txBox="1"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Think → Write → Submit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4"/>
          <p:cNvSpPr txBox="1"/>
          <p:nvPr/>
        </p:nvSpPr>
        <p:spPr>
          <a:xfrm>
            <a:off x="548640" y="1737360"/>
            <a:ext cx="80467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☐  Finish your notes on all the slides.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☐  Write in your own words.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☐  Submit your notes to Schoology under [activity title] before class ends.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4"/>
          <p:cNvSpPr txBox="1"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Present today = due today.  Check your email for feedback.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705.png" id="460" name="Google Shape;46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4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5"/>
          <p:cNvSpPr txBox="1"/>
          <p:nvPr/>
        </p:nvSpPr>
        <p:spPr>
          <a:xfrm>
            <a:off x="548640" y="7315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Turn your answer into a draft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5"/>
          <p:cNvSpPr txBox="1"/>
          <p:nvPr/>
        </p:nvSpPr>
        <p:spPr>
          <a:xfrm>
            <a:off x="548640" y="1554480"/>
            <a:ext cx="8046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 Open your Mastery answers from Day 1 and Day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 Read the feedback you were sent.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 Rewrite each answer to make it clearer and give more evidence.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4. Save your draft and submit 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This is today's priority. Work at your own pace — you don't wait for the class.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1f4dd.png" id="468" name="Google Shape;46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3879" y="502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5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6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6"/>
          <p:cNvSpPr txBox="1"/>
          <p:nvPr/>
        </p:nvSpPr>
        <p:spPr>
          <a:xfrm>
            <a:off x="457200" y="1280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TEACHER NAVIGATION — do not project</a:t>
            </a:r>
            <a:endParaRPr/>
          </a:p>
        </p:txBody>
      </p:sp>
      <p:sp>
        <p:nvSpPr>
          <p:cNvPr id="476" name="Google Shape;476;p46"/>
          <p:cNvSpPr txBox="1"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Beat legend</a:t>
            </a:r>
            <a:endParaRPr/>
          </a:p>
        </p:txBody>
      </p:sp>
      <p:sp>
        <p:nvSpPr>
          <p:cNvPr id="477" name="Google Shape;477;p46"/>
          <p:cNvSpPr txBox="1"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What each slide is doing, in order.</a:t>
            </a:r>
            <a:endParaRPr/>
          </a:p>
        </p:txBody>
      </p:sp>
      <p:sp>
        <p:nvSpPr>
          <p:cNvPr id="478" name="Google Shape;478;p46"/>
          <p:cNvSpPr txBox="1"/>
          <p:nvPr/>
        </p:nvSpPr>
        <p:spPr>
          <a:xfrm>
            <a:off x="548640" y="1554480"/>
            <a:ext cx="402336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Teacher reference — NGSS, claim, objectives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Day 1 divider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3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Bellringer — opening bid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4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Orientation — what we are figuring out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5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Contrast pair — makers and eaters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6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Scale — organism to biosphere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7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Critical Aspect 1 — phenomenon question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8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Interactive model — stock and flow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9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Contrast cases — grass and hawk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10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Explanation — where the energy goes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11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Build a rule — generalization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12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Pattern break — the case the rule misses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13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Continuation question — no answer key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14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Three-tier concept question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15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Activity — Critical Aspect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16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Day 2 divider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17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Activity — Critical Aspect 1, finish</a:t>
            </a:r>
            <a:endParaRPr/>
          </a:p>
        </p:txBody>
      </p:sp>
      <p:sp>
        <p:nvSpPr>
          <p:cNvPr id="479" name="Google Shape;479;p46"/>
          <p:cNvSpPr txBox="1"/>
          <p:nvPr/>
        </p:nvSpPr>
        <p:spPr>
          <a:xfrm>
            <a:off x="4709160" y="1554480"/>
            <a:ext cx="402336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18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Critical Aspect 2 — phenomenon question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19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Definitions — three kinds of relationship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20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Contrast cases — bee and mosquito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21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Build a rule — generalization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22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Pattern break — the case the rule misses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23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Three-tier concept question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24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Activity — Critical Aspect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25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Day 3 divider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26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What if — extension beyond the case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27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Optional challenge — harder, not required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28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Relates to me — student-generated relevance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29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Then and Now — retrospective self-rating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30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Closing checklist — submit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31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Rewrite into a draft — the Day 3 priority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32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This legend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33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Activity and resource links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34  </a:t>
            </a:r>
            <a:r>
              <a:rPr b="0" i="0" lang="en-US" sz="9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Image credits</a:t>
            </a:r>
            <a:endParaRPr/>
          </a:p>
        </p:txBody>
      </p:sp>
      <p:sp>
        <p:nvSpPr>
          <p:cNvPr id="480" name="Google Shape;480;p46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7"/>
          <p:cNvSpPr txBox="1"/>
          <p:nvPr/>
        </p:nvSpPr>
        <p:spPr>
          <a:xfrm>
            <a:off x="548640" y="5486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Activity and resource links</a:t>
            </a:r>
            <a:endParaRPr/>
          </a:p>
        </p:txBody>
      </p:sp>
      <p:sp>
        <p:nvSpPr>
          <p:cNvPr id="486" name="Google Shape;486;p47"/>
          <p:cNvSpPr txBox="1"/>
          <p:nvPr/>
        </p:nvSpPr>
        <p:spPr>
          <a:xfrm>
            <a:off x="548640" y="1280160"/>
            <a:ext cx="804672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Bellringer sim — BioMan Ecology Games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https://biomanbio.com/HTML5GamesandLabs/EcoGames/ecology.html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Energy Tank Model (interactive)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https://answerable-biology-models.netlify.app/energy.html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Feeding Relationships (Pacific NW) — PDF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https://drive.google.com/file/d/1Jw2SU5hL2kzdLCNKFo0XxXE8sB6xcbSK/view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Living Together — HHMI BioInteractive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https://www.biointeractive.org/classroom-resources/living-together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Decomposers video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https://youtu.be/7cRgK0qG00E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Chains &amp; Webs (Gorongosa) — HHMI BioInteractive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https://www.biointeractive.org/classroom-resources/creating-chains-and-webs-model-ecological-relationships</a:t>
            </a:r>
            <a:endParaRPr/>
          </a:p>
        </p:txBody>
      </p:sp>
      <p:sp>
        <p:nvSpPr>
          <p:cNvPr id="487" name="Google Shape;487;p47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8"/>
          <p:cNvSpPr txBox="1"/>
          <p:nvPr/>
        </p:nvSpPr>
        <p:spPr>
          <a:xfrm>
            <a:off x="548640" y="4572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Arial"/>
                <a:ea typeface="Arial"/>
                <a:cs typeface="Arial"/>
                <a:sym typeface="Arial"/>
              </a:rPr>
              <a:t>Image credits</a:t>
            </a:r>
            <a:endParaRPr/>
          </a:p>
        </p:txBody>
      </p:sp>
      <p:sp>
        <p:nvSpPr>
          <p:cNvPr id="493" name="Google Shape;493;p48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All photographs from Wikimedia Commons. None generated by AI.</a:t>
            </a:r>
            <a:endParaRPr/>
          </a:p>
        </p:txBody>
      </p:sp>
      <p:sp>
        <p:nvSpPr>
          <p:cNvPr id="494" name="Google Shape;494;p48"/>
          <p:cNvSpPr txBox="1"/>
          <p:nvPr/>
        </p:nvSpPr>
        <p:spPr>
          <a:xfrm>
            <a:off x="548640" y="1371600"/>
            <a:ext cx="804672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Slide 5 — Sunflower field in late afternoon sun with cloudy sky in M · Pittigrilli · CC0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Slide 5 — Rabbit Eating Grass by Monique Haen · M. L. Haen · CC BY-SA 3.0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Slide 6 — Dairy cows grazing with visible graze line · Halter · CC BY-SA 4.0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Slide 9 — Grasses and Forbs on the Cedar River National Grassland, D · Forest Service - Northern Region · Public domain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Slide 9 — Perched juvenile red-tailed hawk (Buteo jamaicensis) · Perryprog · CC BY 4.0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Slide 10 — DECAYING LOG · Suglo20 · CC BY-SA 4.0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Slide 19 — Amphiprion ocellaris (Clown anemonefish) in Heteractis mag · Nhobgood Nick Hobgood · CC BY-SA 3.0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Slide 19 — Macrosiphum rosae 5422189 · Whitney Cranshaw, Colorado State University · CC BY 3.0 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Slide 19 — African buffalo (Syncerus caffer caffer) male with cattle  · Charles J. Sharp · CC BY-SA 4.0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Slide 20 — European honey bee extracts nectar · John Severns (Severnjc) · Public domain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Slide 20 — Mosquito on human skin · James Gathany, USCDCP · CC0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Slide 22 — Ophrys apifera Bienen-Ragwurz 2014 · Tuxyso · CC BY-SA 3.0</a:t>
            </a:r>
            <a:endParaRPr/>
          </a:p>
        </p:txBody>
      </p:sp>
      <p:sp>
        <p:nvSpPr>
          <p:cNvPr id="495" name="Google Shape;495;p48"/>
          <p:cNvSpPr txBox="1"/>
          <p:nvPr/>
        </p:nvSpPr>
        <p:spPr>
          <a:xfrm>
            <a:off x="548640" y="59893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Icons: Twemoji by X/Twitter, CC BY 4.0 — https://github.com/jdecked/twemoji</a:t>
            </a:r>
            <a:endParaRPr/>
          </a:p>
        </p:txBody>
      </p:sp>
      <p:sp>
        <p:nvSpPr>
          <p:cNvPr id="496" name="Google Shape;496;p48"/>
          <p:cNvSpPr txBox="1"/>
          <p:nvPr/>
        </p:nvSpPr>
        <p:spPr>
          <a:xfrm>
            <a:off x="164592" y="1097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